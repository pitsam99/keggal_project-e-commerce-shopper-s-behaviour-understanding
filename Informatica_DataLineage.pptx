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1097280"/>
            <a:ext cx="5943600" cy="5943600"/>
          </a:xfrm>
          <a:prstGeom prst="ellipse">
            <a:avLst/>
          </a:prstGeom>
          <a:solidFill>
            <a:srgbClr val="253F5E">
              <a:alpha val="70000"/>
            </a:srgbClr>
          </a:solidFill>
          <a:ln w="12700">
            <a:solidFill>
              <a:srgbClr val="253F5E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365760"/>
            <a:ext cx="4389120" cy="4389120"/>
          </a:xfrm>
          <a:prstGeom prst="ellipse">
            <a:avLst/>
          </a:prstGeom>
          <a:solidFill>
            <a:srgbClr val="1A2E45">
              <a:alpha val="80000"/>
            </a:srgbClr>
          </a:solidFill>
          <a:ln w="12700">
            <a:solidFill>
              <a:srgbClr val="1A2E45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3291840" cy="347472"/>
          </a:xfrm>
          <a:prstGeom prst="rect">
            <a:avLst>
              <a:gd name="adj" fmla="val 13158"/>
            </a:avLst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DATA ENGINEERING INITIATIVE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6858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Informatica ETL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Framework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FA3B1"/>
                </a:solidFill>
              </a:rPr>
              <a:t>Automated Source-to-Target Mapping  ·  Cross-Layer Lineage  ·  STTM Generation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0" y="2194560"/>
            <a:ext cx="1188720" cy="137160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237744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0" y="2971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XML Parsing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0607040" y="2194560"/>
            <a:ext cx="1188720" cy="137160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3774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607040" y="2971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Lineage Graph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9144000" y="3931920"/>
            <a:ext cx="1188720" cy="137160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41148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0" y="4709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Transformation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10607040" y="3931920"/>
            <a:ext cx="1188720" cy="137160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411480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607040" y="4709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STTM Output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48640" y="6537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CONFIDENTIAL  ·  March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789920" y="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4A621"/>
                </a:solidFill>
              </a:rPr>
              <a:t>02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64008" cy="2194560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280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Lineage is Implicit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182880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ETL logic locked inside Informatica XML files — no centralized documentation.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51960" y="11430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51960" y="1143000"/>
            <a:ext cx="64008" cy="2194560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3258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37760" y="1280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Impact Analysis is Manual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389120" y="182880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Source changes require hand-inspection of hundreds of mappings.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38160" y="11430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38160" y="1143000"/>
            <a:ext cx="64008" cy="2194560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2588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23960" y="1280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$$PARAMS Are Invisible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275320" y="182880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Unix parameter files inject runtime values unseen in mapping XMLs.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65760" y="36576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65760" y="3657600"/>
            <a:ext cx="64008" cy="2194560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4048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51560" y="3794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Multi-Layer Complexity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02920" y="434340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TPR → TT → DDM flows span 3+ mappings; end-to-end traceability is lost.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251960" y="36576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251960" y="3657600"/>
            <a:ext cx="64008" cy="2194560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3840480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937760" y="3794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No Compliance Evidence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389120" y="434340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BCBS 239, GDPR, DORA require auditable, demonstrable data lineage.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138160" y="36576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138160" y="3657600"/>
            <a:ext cx="64008" cy="2194560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3840480"/>
            <a:ext cx="411480" cy="4114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823960" y="3794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Business Logic Undocumented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8275320" y="434340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CRC checks, expression formulas, lookup logic exist only in developer memory.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</a:rPr>
              <a:t>7 core goals driving this initiative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789920" y="228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03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5486400" cy="105156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0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463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XML Parsing Engine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18470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Parse workflows, worklets, sessions, mappings, maplets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633472"/>
            <a:ext cx="5486400" cy="105156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633472"/>
            <a:ext cx="548640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33472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24128" y="27249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Session–Mapping Inventory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4128" y="3108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Capture execution sequence and session-to-mapping links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895344"/>
            <a:ext cx="5486400" cy="105156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895344"/>
            <a:ext cx="548640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95344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" y="39867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Column-Level Lineage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4128" y="43708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Source col → SQ → Transformations → Target col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5157216"/>
            <a:ext cx="5486400" cy="105156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5157216"/>
            <a:ext cx="548640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5157216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24128" y="52486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Capture ALL Transformation Logic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4128" y="563270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Expressions, CRC, Lookups, Filters, Routers, Joiners verbatim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1371600"/>
            <a:ext cx="5486400" cy="105156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1371600"/>
            <a:ext cx="548640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37160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76288" y="1463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Parameter File Resolution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76288" y="18470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Resolve $$PARAM variables from Unix .par files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2633472"/>
            <a:ext cx="5486400" cy="105156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2633472"/>
            <a:ext cx="548640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2633472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76288" y="27249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Cross-Mapping Stitching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76288" y="3108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Link TPR → TT → DDM into one end-to-end lineage chain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0" y="3895344"/>
            <a:ext cx="5486400" cy="105156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3895344"/>
            <a:ext cx="548640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3895344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76288" y="39867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STTM Auto-Generation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76288" y="43708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Produce Excel STTM per mapping + master end-to-end view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HOW IT WORKS  —  4 PHASE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89920" y="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4A621"/>
                </a:solidFill>
              </a:rPr>
              <a:t>04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743200" cy="5303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2743200" cy="914400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XML PARSE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148840"/>
            <a:ext cx="457200" cy="4572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57200" y="2788920"/>
            <a:ext cx="2468880" cy="65836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8346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Parse workflow/worklet/session hierarchy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3593592"/>
            <a:ext cx="2468880" cy="65836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63931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Extract all transformation ports &amp; expressions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4398264"/>
            <a:ext cx="2468880" cy="65836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444398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Build connector map (FROMINSTANCE → TOINSTANCE)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5202936"/>
            <a:ext cx="2468880" cy="65836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524865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Expand Maplets recursively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063240" y="3383280"/>
            <a:ext cx="182880" cy="411480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017520" y="327355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A621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246120" y="1097280"/>
            <a:ext cx="2743200" cy="53035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46120" y="1097280"/>
            <a:ext cx="2743200" cy="914400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4612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PHASE 2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24612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PARAM RESOLVE</a:t>
            </a:r>
            <a:endParaRPr lang="en-US" sz="14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148840"/>
            <a:ext cx="457200" cy="45720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3383280" y="2788920"/>
            <a:ext cx="2468880" cy="65836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429000" y="28346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Read Unix .par files per environment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83280" y="3593592"/>
            <a:ext cx="2468880" cy="65836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429000" y="363931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Substitute $$PARAM variables in SQL / filters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3383280" y="4398264"/>
            <a:ext cx="2468880" cy="65836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429000" y="444398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Flag unresolved params for review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5989320" y="3383280"/>
            <a:ext cx="182880" cy="411480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943600" y="327355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A621"/>
                </a:solidFill>
              </a:rPr>
              <a:t>▶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6172200" y="1097280"/>
            <a:ext cx="2743200" cy="5303520"/>
          </a:xfrm>
          <a:prstGeom prst="rect">
            <a:avLst/>
          </a:prstGeom>
          <a:solidFill>
            <a:srgbClr val="253F5E"/>
          </a:solidFill>
          <a:ln w="12700">
            <a:solidFill>
              <a:srgbClr val="25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172200" y="1097280"/>
            <a:ext cx="2743200" cy="914400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17220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PHASE 3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617220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LINEAGE STITCH</a:t>
            </a:r>
            <a:endParaRPr lang="en-US" sz="1400" dirty="0"/>
          </a:p>
        </p:txBody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148840"/>
            <a:ext cx="457200" cy="457200"/>
          </a:xfrm>
          <a:prstGeom prst="rect">
            <a:avLst/>
          </a:prstGeom>
        </p:spPr>
      </p:pic>
      <p:sp>
        <p:nvSpPr>
          <p:cNvPr id="39" name="Shape 34"/>
          <p:cNvSpPr/>
          <p:nvPr/>
        </p:nvSpPr>
        <p:spPr>
          <a:xfrm>
            <a:off x="6309360" y="2788920"/>
            <a:ext cx="2468880" cy="65836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355080" y="28346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Tag mappings by layer (TPR / TT / DDM)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6309360" y="3593592"/>
            <a:ext cx="2468880" cy="65836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355080" y="363931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Match target cols → downstream source cols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6309360" y="4398264"/>
            <a:ext cx="2468880" cy="65836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6355080" y="444398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Build end-to-end DAG (NetworkX)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8915400" y="3383280"/>
            <a:ext cx="182880" cy="411480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8869680" y="327355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A621"/>
                </a:solidFill>
              </a:rPr>
              <a:t>▶</a:t>
            </a:r>
            <a:endParaRPr lang="en-US" sz="1400" dirty="0"/>
          </a:p>
        </p:txBody>
      </p:sp>
      <p:sp>
        <p:nvSpPr>
          <p:cNvPr id="47" name="Shape 42"/>
          <p:cNvSpPr/>
          <p:nvPr/>
        </p:nvSpPr>
        <p:spPr>
          <a:xfrm>
            <a:off x="9098280" y="1097280"/>
            <a:ext cx="2743200" cy="5303520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Shape 43"/>
          <p:cNvSpPr/>
          <p:nvPr/>
        </p:nvSpPr>
        <p:spPr>
          <a:xfrm>
            <a:off x="9098280" y="1097280"/>
            <a:ext cx="2743200" cy="9144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909828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621"/>
                </a:solidFill>
              </a:rPr>
              <a:t>PHASE 4</a:t>
            </a:r>
            <a:endParaRPr lang="en-US" sz="1000" dirty="0"/>
          </a:p>
        </p:txBody>
      </p:sp>
      <p:sp>
        <p:nvSpPr>
          <p:cNvPr id="50" name="Text 45"/>
          <p:cNvSpPr/>
          <p:nvPr/>
        </p:nvSpPr>
        <p:spPr>
          <a:xfrm>
            <a:off x="909828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STTM OUTPUT</a:t>
            </a:r>
            <a:endParaRPr lang="en-US" sz="1400" dirty="0"/>
          </a:p>
        </p:txBody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2148840"/>
            <a:ext cx="457200" cy="457200"/>
          </a:xfrm>
          <a:prstGeom prst="rect">
            <a:avLst/>
          </a:prstGeom>
        </p:spPr>
      </p:pic>
      <p:sp>
        <p:nvSpPr>
          <p:cNvPr id="52" name="Shape 46"/>
          <p:cNvSpPr/>
          <p:nvPr/>
        </p:nvSpPr>
        <p:spPr>
          <a:xfrm>
            <a:off x="9235440" y="2788920"/>
            <a:ext cx="2468880" cy="65836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9281160" y="28346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Per-mapping Excel: Source → SQ → Transform → Target</a:t>
            </a:r>
            <a:endParaRPr lang="en-US" sz="1000" dirty="0"/>
          </a:p>
        </p:txBody>
      </p:sp>
      <p:sp>
        <p:nvSpPr>
          <p:cNvPr id="54" name="Shape 48"/>
          <p:cNvSpPr/>
          <p:nvPr/>
        </p:nvSpPr>
        <p:spPr>
          <a:xfrm>
            <a:off x="9235440" y="3593592"/>
            <a:ext cx="2468880" cy="65836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9281160" y="363931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Master workbook: TPR → TT → DDM lineage</a:t>
            </a:r>
            <a:endParaRPr lang="en-US" sz="1000" dirty="0"/>
          </a:p>
        </p:txBody>
      </p:sp>
      <p:sp>
        <p:nvSpPr>
          <p:cNvPr id="56" name="Shape 50"/>
          <p:cNvSpPr/>
          <p:nvPr/>
        </p:nvSpPr>
        <p:spPr>
          <a:xfrm>
            <a:off x="9235440" y="4398264"/>
            <a:ext cx="2468880" cy="65836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9281160" y="444398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Metadata DB load for impact analysis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WE CAPTURE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</a:rPr>
              <a:t>Every transformation type — verbatim logic, no summarisation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789920" y="182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4A621"/>
                </a:solidFill>
              </a:rPr>
              <a:t>05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3703320" cy="109728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201168" cy="201168"/>
          </a:xfrm>
          <a:prstGeom prst="ellipse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39903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Source Qualifier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81965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Custom SQL override · Filter condition · Sorted ports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51960" y="1325880"/>
            <a:ext cx="3703320" cy="109728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463040"/>
            <a:ext cx="201168" cy="201168"/>
          </a:xfrm>
          <a:prstGeom prst="ellipse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39903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Expression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89120" y="181965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All output port formulas verbatim · Variable ports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83880" y="1325880"/>
            <a:ext cx="3703320" cy="109728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463040"/>
            <a:ext cx="201168" cy="201168"/>
          </a:xfrm>
          <a:prstGeom prst="ellipse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22792" y="139903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Lookup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21040" y="181965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Table/view name · Join condition · Return columns · Cache type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624328"/>
            <a:ext cx="3703320" cy="109728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761488"/>
            <a:ext cx="201168" cy="201168"/>
          </a:xfrm>
          <a:prstGeom prst="ellipse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26974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Filter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311810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Filter condition expression (full text)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51960" y="2624328"/>
            <a:ext cx="3703320" cy="109728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0" y="2761488"/>
            <a:ext cx="201168" cy="201168"/>
          </a:xfrm>
          <a:prstGeom prst="ellipse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90872" y="26974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Router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389120" y="311810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Each group name + filter condition · Default group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83880" y="2624328"/>
            <a:ext cx="3703320" cy="109728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21040" y="2761488"/>
            <a:ext cx="201168" cy="201168"/>
          </a:xfrm>
          <a:prstGeom prst="ellipse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22792" y="26974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Joiner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321040" y="311810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Master/detail · Join type (Normal/Outer/Full) · Condition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922776"/>
            <a:ext cx="3703320" cy="109728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059936"/>
            <a:ext cx="201168" cy="201168"/>
          </a:xfrm>
          <a:prstGeom prst="ellipse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9959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Aggregator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441655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Group-by ports · Aggregate expressions · Sorted input flag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51960" y="3922776"/>
            <a:ext cx="3703320" cy="109728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0" y="4059936"/>
            <a:ext cx="201168" cy="201168"/>
          </a:xfrm>
          <a:prstGeom prst="ellipse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90872" y="39959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Update Strategy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389120" y="441655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DD_INSERT / DD_UPDATE / DD_DELETE / DD_REJECT logic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183880" y="3922776"/>
            <a:ext cx="3703320" cy="109728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21040" y="4059936"/>
            <a:ext cx="201168" cy="201168"/>
          </a:xfrm>
          <a:prstGeom prst="ellipse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22792" y="39959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Maplet (e.g. ep_CRC_GEN)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321040" y="441655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Input params · Output params · Internal transformation summary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5221224"/>
            <a:ext cx="3703320" cy="109728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5358384"/>
            <a:ext cx="201168" cy="201168"/>
          </a:xfrm>
          <a:prstGeom prst="ellipse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952" y="529437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Sequence Generator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57200" y="571500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Start value · Increment · Cycle flag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251960" y="5221224"/>
            <a:ext cx="3703320" cy="109728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89120" y="5358384"/>
            <a:ext cx="201168" cy="201168"/>
          </a:xfrm>
          <a:prstGeom prst="ellipse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90872" y="529437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Sorter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389120" y="571500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Sort keys · ASC/DESC · Distinct rows flag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183880" y="5221224"/>
            <a:ext cx="3703320" cy="109728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21040" y="5358384"/>
            <a:ext cx="201168" cy="201168"/>
          </a:xfrm>
          <a:prstGeom prst="ellipse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22792" y="529437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Stored Procedure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8321040" y="571500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Procedure name · Query text · Connection name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POC — CUSTOMER BALANCE PIPELINE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89920" y="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4A621"/>
                </a:solidFill>
              </a:rPr>
              <a:t>06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3474720" cy="5303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430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RAW LAYER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TPR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3108960" cy="54864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48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TPR_CUSTOMER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3108960" cy="54864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26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TPR_ACCOUNT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3520440"/>
            <a:ext cx="914400" cy="73152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33375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A621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3749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3F5E"/>
                </a:solidFill>
              </a:rPr>
              <a:t>M_TPR_CUST_BAL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389120" y="1143000"/>
            <a:ext cx="3474720" cy="53035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89120" y="11430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STAGING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2148840"/>
            <a:ext cx="3108960" cy="54864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148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TT_CUST_BAL_STG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63840" y="3520440"/>
            <a:ext cx="914400" cy="73152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33375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A621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0" y="3749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3F5E"/>
                </a:solidFill>
              </a:rPr>
              <a:t>M_TT_CUST_BAL_DDM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412480" y="1143000"/>
            <a:ext cx="3474720" cy="5303520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12480" y="11430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MART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DDM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95360" y="2148840"/>
            <a:ext cx="3108960" cy="54864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148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DDM_CUST_BALANCE_F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5074920"/>
            <a:ext cx="11521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5120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SAMPLE LINEAGE ROW  (BAL_USD_AMT)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048" y="5486400"/>
            <a:ext cx="146304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54864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Source Table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4048" y="5742432"/>
            <a:ext cx="146304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576072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TPR_ACCOUNT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847088" y="5486400"/>
            <a:ext cx="128016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47088" y="54864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Source Col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847088" y="5742432"/>
            <a:ext cx="1280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83664" y="576072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ACCT_BAL_AMT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127248" y="5486400"/>
            <a:ext cx="100584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27248" y="54864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SQ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127248" y="5742432"/>
            <a:ext cx="100584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63824" y="5760720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ACCT_BAL_AMT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133088" y="5486400"/>
            <a:ext cx="16459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33088" y="54864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Transformation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133088" y="5742432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69664" y="576072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EXP_CUST_BAL (Expr)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779008" y="5486400"/>
            <a:ext cx="25603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79008" y="5486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Logic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779008" y="5742432"/>
            <a:ext cx="256032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15584" y="576072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ACCT_BAL_AMT * LKP_EXCH_RATE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339328" y="5486400"/>
            <a:ext cx="16459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39328" y="54864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Target Col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339328" y="5742432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75904" y="576072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CURRENT_BAL_USD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9985248" y="5486400"/>
            <a:ext cx="173736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985248" y="54864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Target Table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9985248" y="5742432"/>
            <a:ext cx="1737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021824" y="576072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DDM_CUST_BALANCE_F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TECH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789920" y="182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4A621"/>
                </a:solidFill>
              </a:rPr>
              <a:t>07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743200" cy="228600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7432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PARSE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184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Python lxml / ElementTree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27685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1"/>
                </a:solidFill>
              </a:rPr>
              <a:t>iterparse for 100MB+ XML files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743200" cy="228600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43000"/>
            <a:ext cx="2743200" cy="347472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143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GRAPH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16184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NetworkX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83280" y="227685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1"/>
                </a:solidFill>
              </a:rPr>
              <a:t>DAG for lineage traversal &amp; impact analysis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1143000"/>
            <a:ext cx="2743200" cy="228600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143000"/>
            <a:ext cx="27432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143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PARAMS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16184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Python configparser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09360" y="227685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1"/>
                </a:solidFill>
              </a:rPr>
              <a:t>Multi-env .par file resolution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98280" y="1143000"/>
            <a:ext cx="2743200" cy="228600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98280" y="1143000"/>
            <a:ext cx="2743200" cy="347472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98280" y="1143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OUTPUT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35440" y="16184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openpyxl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235440" y="227685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1"/>
                </a:solidFill>
              </a:rPr>
              <a:t>Multi-sheet STTM Excel generation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703320"/>
            <a:ext cx="2743200" cy="228600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703320"/>
            <a:ext cx="27432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703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STORE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17880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PostgreSQL + SQLAlchemy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8371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1"/>
                </a:solidFill>
              </a:rPr>
              <a:t>Metadata repository &amp; SQL impact queries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46120" y="3703320"/>
            <a:ext cx="2743200" cy="228600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46120" y="3703320"/>
            <a:ext cx="2743200" cy="347472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3703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ORCHESTRATE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83280" y="417880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Apache Airflow (future)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383280" y="48371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1"/>
                </a:solidFill>
              </a:rPr>
              <a:t>Nightly refresh &amp; change detection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72200" y="3703320"/>
            <a:ext cx="2743200" cy="228600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3703320"/>
            <a:ext cx="27432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3703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UI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09360" y="417880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React + D3.js (future)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09360" y="48371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1"/>
                </a:solidFill>
              </a:rPr>
              <a:t>Interactive lineage graph explorer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098280" y="3703320"/>
            <a:ext cx="2743200" cy="228600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098280" y="3703320"/>
            <a:ext cx="2743200" cy="347472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98280" y="3703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DEVOPS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235440" y="417880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Docker + Git + pytest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235440" y="48371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1"/>
                </a:solidFill>
              </a:rPr>
              <a:t>Containerisation, version control, testing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CHALLENGES &amp; MITIGATIONS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89920" y="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4A621"/>
                </a:solidFill>
              </a:rPr>
              <a:t>08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11521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822960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4300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80160" y="121615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XML Version Variance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0" y="1216152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A621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77840" y="1216152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Version-detect logic; per-version parser adapters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911096"/>
            <a:ext cx="11521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911096"/>
            <a:ext cx="822960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911096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80160" y="198424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Nested Maplet Recursion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198424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A621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77840" y="1984248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Cycle detection with visited-set during recursive expansion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679192"/>
            <a:ext cx="11521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679192"/>
            <a:ext cx="822960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679192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80160" y="275234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Cross-Mapping Table Match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0" y="2752344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A621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77840" y="2752344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Resolve $$PARAMS first; normalize table names; alias registry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447288"/>
            <a:ext cx="11521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447288"/>
            <a:ext cx="822960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447288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80160" y="352044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STTM Accuracy Validation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0" y="352044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A621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77840" y="3520440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Manual vs auto comparison on 10 mappings in POC phase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4215384"/>
            <a:ext cx="11521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4215384"/>
            <a:ext cx="822960" cy="658368"/>
          </a:xfrm>
          <a:prstGeom prst="rect">
            <a:avLst/>
          </a:prstGeom>
          <a:solidFill>
            <a:srgbClr val="E65C00"/>
          </a:solidFill>
          <a:ln w="12700">
            <a:solidFill>
              <a:srgbClr val="E65C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215384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280160" y="4288536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Param File Fragmentation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0" y="4288536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A621"/>
                </a:solidFill>
              </a:rPr>
              <a:t>→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577840" y="4288536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Param aggregator with PROD &gt; UAT &gt; DEV override priority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4983480"/>
            <a:ext cx="11521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4983480"/>
            <a:ext cx="822960" cy="658368"/>
          </a:xfrm>
          <a:prstGeom prst="rect">
            <a:avLst/>
          </a:prstGeom>
          <a:solidFill>
            <a:srgbClr val="E65C00"/>
          </a:solidFill>
          <a:ln w="12700">
            <a:solidFill>
              <a:srgbClr val="E65C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98348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280160" y="505663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Large XML Performance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20640" y="5056632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A621"/>
                </a:solidFill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577840" y="5056632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lxml iterparse streaming; process one MAPPING at a time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0040" y="5751576"/>
            <a:ext cx="11521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0040" y="5751576"/>
            <a:ext cx="822960" cy="658368"/>
          </a:xfrm>
          <a:prstGeom prst="rect">
            <a:avLst/>
          </a:prstGeom>
          <a:solidFill>
            <a:srgbClr val="E65C00"/>
          </a:solidFill>
          <a:ln w="12700">
            <a:solidFill>
              <a:srgbClr val="E65C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5751576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280160" y="582472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Unconnected / Reused Ports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20640" y="582472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A621"/>
                </a:solidFill>
              </a:rPr>
              <a:t>→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577840" y="5824728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Filter by active CONNECTOR tags; flag unconnected ports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789920" y="182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4A621"/>
                </a:solidFill>
              </a:rPr>
              <a:t>09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1247120" cy="91440"/>
          </a:xfrm>
          <a:prstGeom prst="rect">
            <a:avLst/>
          </a:prstGeom>
          <a:solidFill>
            <a:srgbClr val="253F5E"/>
          </a:solidFill>
          <a:ln w="12700">
            <a:solidFill>
              <a:srgbClr val="253F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94560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5603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Wk 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822960" cy="86868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4475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XML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Parser POC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66928" y="2194560"/>
            <a:ext cx="45720" cy="45720"/>
          </a:xfrm>
          <a:prstGeom prst="rect">
            <a:avLst/>
          </a:prstGeom>
          <a:solidFill>
            <a:srgbClr val="253F5E"/>
          </a:solidFill>
          <a:ln w="12700">
            <a:solidFill>
              <a:srgbClr val="253F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2194560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25603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Wk 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94560" y="3017520"/>
            <a:ext cx="822960" cy="86868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309067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Single Mapping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STTM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395728" y="2194560"/>
            <a:ext cx="45720" cy="530352"/>
          </a:xfrm>
          <a:prstGeom prst="rect">
            <a:avLst/>
          </a:prstGeom>
          <a:solidFill>
            <a:srgbClr val="253F5E"/>
          </a:solidFill>
          <a:ln w="12700">
            <a:solidFill>
              <a:srgbClr val="253F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2194560"/>
            <a:ext cx="292608" cy="292608"/>
          </a:xfrm>
          <a:prstGeom prst="ellipse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25603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621"/>
                </a:solidFill>
              </a:rPr>
              <a:t>Wk 8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0" y="1371600"/>
            <a:ext cx="822960" cy="86868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144475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Batch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Processing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315968" y="2194560"/>
            <a:ext cx="45720" cy="45720"/>
          </a:xfrm>
          <a:prstGeom prst="rect">
            <a:avLst/>
          </a:prstGeom>
          <a:solidFill>
            <a:srgbClr val="253F5E"/>
          </a:solidFill>
          <a:ln w="12700">
            <a:solidFill>
              <a:srgbClr val="253F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2194560"/>
            <a:ext cx="292608" cy="292608"/>
          </a:xfrm>
          <a:prstGeom prst="ellipse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25603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621"/>
                </a:solidFill>
              </a:rPr>
              <a:t>Wk 10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0" y="3017520"/>
            <a:ext cx="822960" cy="86868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309067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CRC Maplet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Detection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44768" y="2194560"/>
            <a:ext cx="45720" cy="530352"/>
          </a:xfrm>
          <a:prstGeom prst="rect">
            <a:avLst/>
          </a:prstGeom>
          <a:solidFill>
            <a:srgbClr val="253F5E"/>
          </a:solidFill>
          <a:ln w="12700">
            <a:solidFill>
              <a:srgbClr val="253F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0" y="2194560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25603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Mo 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06640" y="1371600"/>
            <a:ext cx="822960" cy="86868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144475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End-to-End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Lineage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607808" y="2194560"/>
            <a:ext cx="45720" cy="45720"/>
          </a:xfrm>
          <a:prstGeom prst="rect">
            <a:avLst/>
          </a:prstGeom>
          <a:solidFill>
            <a:srgbClr val="253F5E"/>
          </a:solidFill>
          <a:ln w="12700">
            <a:solidFill>
              <a:srgbClr val="253F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0" y="2194560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0" y="25603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Mo 6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052560" y="3017520"/>
            <a:ext cx="822960" cy="86868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0" y="309067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Metadata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DB + Impact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253728" y="2194560"/>
            <a:ext cx="45720" cy="530352"/>
          </a:xfrm>
          <a:prstGeom prst="rect">
            <a:avLst/>
          </a:prstGeom>
          <a:solidFill>
            <a:srgbClr val="253F5E"/>
          </a:solidFill>
          <a:ln w="12700">
            <a:solidFill>
              <a:srgbClr val="253F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789920" y="2194560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07040" y="25603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Mo 12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698480" y="1371600"/>
            <a:ext cx="822960" cy="868680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698480" y="144475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Lineage UI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+ Compliance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0899648" y="2194560"/>
            <a:ext cx="45720" cy="45720"/>
          </a:xfrm>
          <a:prstGeom prst="rect">
            <a:avLst/>
          </a:prstGeom>
          <a:solidFill>
            <a:srgbClr val="253F5E"/>
          </a:solidFill>
          <a:ln w="12700">
            <a:solidFill>
              <a:srgbClr val="253F5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4114800"/>
            <a:ext cx="4754880" cy="36576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SHORT-TERM  (0 – 3 months)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223760" y="4114800"/>
            <a:ext cx="4480560" cy="365760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23760" y="4114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LONG-TERM  (3 – 12 months)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" y="4754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A3B1"/>
                </a:solidFill>
              </a:rPr>
              <a:t>KEY DELIVERABLES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5166360"/>
            <a:ext cx="2743200" cy="640080"/>
          </a:xfrm>
          <a:prstGeom prst="rect">
            <a:avLst/>
          </a:prstGeom>
          <a:solidFill>
            <a:srgbClr val="253F5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5166360"/>
            <a:ext cx="54864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52120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POC Parser + Param Resolver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291840" y="5166360"/>
            <a:ext cx="2743200" cy="640080"/>
          </a:xfrm>
          <a:prstGeom prst="rect">
            <a:avLst/>
          </a:prstGeom>
          <a:solidFill>
            <a:srgbClr val="253F5E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91840" y="5166360"/>
            <a:ext cx="54864" cy="640080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29000" y="52120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Per-Mapping STTM Excel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217920" y="5166360"/>
            <a:ext cx="2743200" cy="640080"/>
          </a:xfrm>
          <a:prstGeom prst="rect">
            <a:avLst/>
          </a:prstGeom>
          <a:solidFill>
            <a:srgbClr val="253F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17920" y="5166360"/>
            <a:ext cx="54864" cy="640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55080" y="52120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End-to-End Lineage Chain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9144000" y="5166360"/>
            <a:ext cx="2743200" cy="640080"/>
          </a:xfrm>
          <a:prstGeom prst="rect">
            <a:avLst/>
          </a:prstGeom>
          <a:solidFill>
            <a:srgbClr val="253F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144000" y="5166360"/>
            <a:ext cx="54864" cy="640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81160" y="52120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Interactive Lineage UI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5943600" cy="5943600"/>
          </a:xfrm>
          <a:prstGeom prst="ellipse">
            <a:avLst/>
          </a:prstGeom>
          <a:solidFill>
            <a:srgbClr val="253F5E">
              <a:alpha val="60000"/>
            </a:srgbClr>
          </a:solidFill>
          <a:ln w="12700">
            <a:solidFill>
              <a:srgbClr val="253F5E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A621"/>
                </a:solidFill>
              </a:rPr>
              <a:t>Summary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7680960" cy="749808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749808" cy="749808"/>
          </a:xfrm>
          <a:prstGeom prst="ellipse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51790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463040"/>
            <a:ext cx="6720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Informatica XMLs + Unix .par files → unified, auto-parsed lineage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2340864"/>
            <a:ext cx="7680960" cy="749808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2340864"/>
            <a:ext cx="749808" cy="749808"/>
          </a:xfrm>
          <a:prstGeom prst="ellipse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2487168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432304"/>
            <a:ext cx="6720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Column-level traceability: Source → SQ → All Transforms → Target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65760" y="3310128"/>
            <a:ext cx="7680960" cy="749808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5760" y="3310128"/>
            <a:ext cx="749808" cy="749808"/>
          </a:xfrm>
          <a:prstGeom prst="ellipse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3456432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401568"/>
            <a:ext cx="6720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Cross-mapping stitching: TPR → TT → DDM end-to-end in one view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365760" y="4279392"/>
            <a:ext cx="7680960" cy="749808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65760" y="4279392"/>
            <a:ext cx="749808" cy="749808"/>
          </a:xfrm>
          <a:prstGeom prst="ellipse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4425696"/>
            <a:ext cx="438912" cy="4389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34440" y="4370832"/>
            <a:ext cx="6720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Auto-generated STTM Excel — no manual documentation effort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365760" y="5248656"/>
            <a:ext cx="7680960" cy="749808"/>
          </a:xfrm>
          <a:prstGeom prst="rect">
            <a:avLst/>
          </a:prstGeom>
          <a:solidFill>
            <a:srgbClr val="253F5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365760" y="5248656"/>
            <a:ext cx="749808" cy="749808"/>
          </a:xfrm>
          <a:prstGeom prst="ellipse">
            <a:avLst/>
          </a:prstGeom>
          <a:solidFill>
            <a:srgbClr val="F4A621"/>
          </a:solidFill>
          <a:ln w="12700">
            <a:solidFill>
              <a:srgbClr val="F4A621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5394960"/>
            <a:ext cx="438912" cy="4389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34440" y="5340096"/>
            <a:ext cx="6720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Foundation for impact analysis, compliance reporting &amp; lineage UI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365760" y="6263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621"/>
                </a:solidFill>
              </a:rPr>
              <a:t>Automated lineage. Zero guesswork.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10789920" y="3657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4A621"/>
                </a:solidFill>
              </a:rPr>
              <a:t>10</a:t>
            </a:r>
            <a:endParaRPr lang="en-US" sz="2800" dirty="0"/>
          </a:p>
        </p:txBody>
      </p:sp>
      <p:sp>
        <p:nvSpPr>
          <p:cNvPr id="27" name="Shape 2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365760" y="653796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Data Engineering Team  ·  March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Informatica ETL Data Lineage Extraction</dc:title>
  <dc:subject>PptxGenJS Presentation</dc:subject>
  <dc:creator>PptxGenJS</dc:creator>
  <cp:lastModifiedBy>PptxGenJS</cp:lastModifiedBy>
  <cp:revision>1</cp:revision>
  <dcterms:created xsi:type="dcterms:W3CDTF">2026-03-12T07:56:27Z</dcterms:created>
  <dcterms:modified xsi:type="dcterms:W3CDTF">2026-03-12T07:56:27Z</dcterms:modified>
</cp:coreProperties>
</file>